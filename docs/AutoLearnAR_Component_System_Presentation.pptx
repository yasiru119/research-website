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E5A90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AR POWERED AUTOMOBILE LEARNING SYSTEM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68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AutoLearnAR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Component-Wise System Presentation — mapping the 4-module AI/AR design to the actual Android application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4690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Component ID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4709160"/>
            <a:ext cx="310896" cy="310896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31336" y="4690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Recognition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4709160"/>
            <a:ext cx="310896" cy="310896"/>
          </a:xfrm>
          <a:prstGeom prst="ellipse">
            <a:avLst/>
          </a:prstGeom>
          <a:solidFill>
            <a:srgbClr val="E5A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03504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690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Verification &amp; Guidance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41080" y="4709160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4709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43416" y="4690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Safety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AutoLearnAR_Project (Android / Kotlin) + system design documentation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5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design describes 4 AI/AR components. Every one of them is implemented in the app — this deck shows exactly how, file by file.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219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F15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1762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architecture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2514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student's session flows across screens, models and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2057400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08192" y="22219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839712" y="21762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– Vision-Based Component Identification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39712" y="2514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 → on-device CNN → identified engine part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32826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A855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2369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– Student Task Recognition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444752" y="35753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component to a task, then tracks the student's live 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118104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08192" y="32826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A9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08192" y="3282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32369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– AR Verification &amp; Instruction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35753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overlays, motion guidance, audio coaching, live step verification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78808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" y="4343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44752" y="4297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– Evaluation &amp; Safety Feedback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444752" y="46360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component-specific safety rules, history &amp; grading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4178808"/>
            <a:ext cx="5074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08192" y="43434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4748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08192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839712" y="4297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map &amp; tech stack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839712" y="46360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file placed against the component it belongs to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mapping: student session → 4 AI/AR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12064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starts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956816" y="1874520"/>
            <a:ext cx="109728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84832" y="141732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139696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live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84448" y="1874520"/>
            <a:ext cx="109728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12464" y="141732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67328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MLClassifier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(TFLite CNN)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01184" y="128016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01184" y="12801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109728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40096" y="141732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394960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Screen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function,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shown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39712" y="1874520"/>
            <a:ext cx="109728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67728" y="141732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A855F7"/>
          </a:solidFill>
          <a:ln w="9525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022592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TaskRecognizer +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model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6448" y="128016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56448" y="12801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467344" y="1874520"/>
            <a:ext cx="109728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95360" y="141732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5A900"/>
          </a:solidFill>
          <a:ln w="9525">
            <a:solidFill>
              <a:srgbClr val="E5A900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50224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0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Spatial3DEngine +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PartGuidanceEngine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784080" y="128016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5A9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84080" y="12801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094976" y="1874520"/>
            <a:ext cx="109728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222992" y="1417320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277856" y="1463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0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1411712" y="128016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1411712" y="12801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963656" y="2331720"/>
            <a:ext cx="0" cy="384048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9336024" y="2715768"/>
            <a:ext cx="162763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9336024" y="2715768"/>
            <a:ext cx="0" cy="-384048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641080" y="2587752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641080" y="25877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“Try Again” → retry AR Verification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63656" y="2331720"/>
            <a:ext cx="0" cy="868680"/>
          </a:xfrm>
          <a:prstGeom prst="line">
            <a:avLst/>
          </a:prstGeom>
          <a:noFill/>
          <a:ln w="19050">
            <a:solidFill>
              <a:srgbClr val="8A93A3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246376" y="3200400"/>
            <a:ext cx="8717280" cy="0"/>
          </a:xfrm>
          <a:prstGeom prst="line">
            <a:avLst/>
          </a:prstGeom>
          <a:noFill/>
          <a:ln w="19050">
            <a:solidFill>
              <a:srgbClr val="8A93A3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2246376" y="3200400"/>
            <a:ext cx="0" cy="1005840"/>
          </a:xfrm>
          <a:prstGeom prst="line">
            <a:avLst/>
          </a:prstGeom>
          <a:noFill/>
          <a:ln w="19050">
            <a:solidFill>
              <a:srgbClr val="8A93A3"/>
            </a:solidFill>
            <a:prstDash val="dash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19216" y="3072384"/>
            <a:ext cx="338328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919216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“Review Theory” → back to Library / Chatbot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915144" y="2331720"/>
            <a:ext cx="0" cy="1874520"/>
          </a:xfrm>
          <a:prstGeom prst="line">
            <a:avLst/>
          </a:prstGeom>
          <a:noFill/>
          <a:ln w="1905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229344" y="3140964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229344" y="31409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saved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24048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MODULES  —  reachable throughout the session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206240"/>
            <a:ext cx="3578352" cy="914400"/>
          </a:xfrm>
          <a:prstGeom prst="roundRect">
            <a:avLst>
              <a:gd name="adj" fmla="val 8000"/>
            </a:avLst>
          </a:prstGeom>
          <a:solidFill>
            <a:srgbClr val="94A3B8"/>
          </a:solidFill>
          <a:ln w="9525">
            <a:solidFill>
              <a:srgbClr val="94A3B8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512064" y="4251960"/>
            <a:ext cx="3468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/</a:t>
            </a:r>
            <a:endParaRPr lang="en-US" sz="100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Content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LibraryScreen →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TheoryDetailScreen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91584" y="4206240"/>
            <a:ext cx="3578352" cy="9144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 w="9525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49" name="Text 47"/>
          <p:cNvSpPr txBox="1"/>
          <p:nvPr/>
        </p:nvSpPr>
        <p:spPr>
          <a:xfrm>
            <a:off x="4346448" y="4251960"/>
            <a:ext cx="3468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– grounded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theory content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125968" y="4206240"/>
            <a:ext cx="3578352" cy="914400"/>
          </a:xfrm>
          <a:prstGeom prst="roundRect">
            <a:avLst>
              <a:gd name="adj" fmla="val 8000"/>
            </a:avLst>
          </a:prstGeom>
          <a:solidFill>
            <a:srgbClr val="1B2433"/>
          </a:solidFill>
          <a:ln w="9525">
            <a:solidFill>
              <a:srgbClr val="1B2433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8180832" y="4251960"/>
            <a:ext cx="3468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</a:t>
            </a:r>
            <a:endParaRPr lang="en-US" sz="100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ScoreHistoryManager – saves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attempt locally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053840" y="4663440"/>
            <a:ext cx="219456" cy="0"/>
          </a:xfrm>
          <a:prstGeom prst="line">
            <a:avLst/>
          </a:prstGeom>
          <a:noFill/>
          <a:ln w="1905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8BD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8521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Vision-Based Engine Component Identification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9875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part is the student looking at?” — on-device image classification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" y="22402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Frame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preview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(CameraScreen.kt)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95728" y="2674620"/>
            <a:ext cx="347472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61488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816352" y="22402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MLClassifier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MobileNetV2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input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0016" y="2674620"/>
            <a:ext cx="347472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5776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120640" y="22402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≥ 60%?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AppNavigation.kt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04304" y="2674620"/>
            <a:ext cx="347472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70064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38BDF8"/>
          </a:solidFill>
          <a:ln w="9525">
            <a:solidFill>
              <a:srgbClr val="38BDF8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24928" y="22402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+</a:t>
            </a:r>
            <a:endParaRPr lang="en-US" sz="10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ID in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EngineData.kt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08592" y="2674620"/>
            <a:ext cx="347472" cy="0"/>
          </a:xfrm>
          <a:prstGeom prst="line">
            <a:avLst/>
          </a:prstGeom>
          <a:noFill/>
          <a:ln w="22225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74352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729216" y="224028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Detail</a:t>
            </a:r>
            <a:endParaRPr lang="en-US" sz="10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function,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confidence 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25896" y="3154680"/>
            <a:ext cx="0" cy="32004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417320" y="3474720"/>
            <a:ext cx="4608576" cy="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417320" y="3474720"/>
            <a:ext cx="0" cy="-320040"/>
          </a:xfrm>
          <a:prstGeom prst="line">
            <a:avLst/>
          </a:prstGeom>
          <a:noFill/>
          <a:ln w="19050">
            <a:solidFill>
              <a:srgbClr val="B45309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121408" y="3355848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F7F9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21408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 → “move closer, try again”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114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343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engine component the student's camera is pointed at, in real time, without needing an internet connection.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THE APP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047488"/>
            <a:ext cx="6995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streams a live preview (CameraScreen.kt / CameraPreview.kt); the student captures a frame.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MLClassifier.kt loads a TensorFlow Lite MobileNetV2 model (component_model.tflite + labels.txt) and runs on-device inference — resize to 224×224, build an RGB float buffer, one forward pass, softmax over all labels.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label is accepted only if confidence ≥ 60% (AppNavigation.kt); below that the student is asked to move closer and retry.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accepted label is normalized and matched to a full EngineComponent record (id, name, function, specifications) from EngineData.kt, then shown on ComponentScreen.kt together with the detection confidence.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4114800"/>
            <a:ext cx="4096512" cy="2377440"/>
          </a:xfrm>
          <a:prstGeom prst="roundRect">
            <a:avLst>
              <a:gd name="adj" fmla="val 2692"/>
            </a:avLst>
          </a:prstGeom>
          <a:solidFill>
            <a:srgbClr val="0F1520"/>
          </a:solidFill>
          <a:ln/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891272" y="4315968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FILES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891272" y="4617720"/>
            <a:ext cx="3584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ai/MLClassifier.kt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ai/ComponentDetector.kt (interface)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ai/DemoComponentDetector.kt (offline stub)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ui/CameraScreen.kt, ui/CameraPreview.kt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ui/ComponentScreen.kt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data/EngineData.kt, model/EngineComponent.kt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91272" y="5806440"/>
            <a:ext cx="358444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891272" y="58978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891272" y="6099048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 ·  TensorFlow Lite 2.16  ·  MobileNetV2 CNN  ·  Kotlin Coroutines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A855F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8521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Task Recognition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9875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student trying to do, and which step are they on?”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55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TASK LOOKUP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64748B"/>
          </a:solidFill>
          <a:ln w="9525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12064" y="205740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ID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Component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20116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A855F7"/>
          </a:solidFill>
          <a:ln w="9525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63824" y="205740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TaskRecognizer.kt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componentId →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TaskData.kt / EngineData.kt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201168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A855F7"/>
          </a:solidFill>
          <a:ln w="9525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815584" y="205740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Ordered</a:t>
            </a:r>
            <a:endParaRPr lang="en-US" sz="100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TaskRecognitionScreen.kt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07208" y="2446020"/>
            <a:ext cx="283464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58968" y="2446020"/>
            <a:ext cx="283464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" y="29900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ACTION RECOGNITION (during practice)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64748B"/>
          </a:solidFill>
          <a:ln w="9525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12064" y="329184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</a:t>
            </a:r>
            <a:endParaRPr lang="en-US" sz="100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continuously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VerificationScreen.kt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32461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A855F7"/>
          </a:solidFill>
          <a:ln w="9525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163824" y="329184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TFLiteClassifier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action-recognition CNN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(air_filter_action_model)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324612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A855F7"/>
          </a:solidFill>
          <a:ln w="9525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815584" y="329184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mapActionToStepIndex()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action →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3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step index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07208" y="3680460"/>
            <a:ext cx="283464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58968" y="3680460"/>
            <a:ext cx="283464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21040" y="26289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E5A900"/>
          </a:solidFill>
          <a:ln w="9525">
            <a:solidFill>
              <a:srgbClr val="E5A900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75904" y="2674620"/>
            <a:ext cx="1444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Component 3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Verification &amp;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10728" y="2446020"/>
            <a:ext cx="192024" cy="0"/>
          </a:xfrm>
          <a:prstGeom prst="line">
            <a:avLst/>
          </a:prstGeom>
          <a:noFill/>
          <a:ln w="1778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110728" y="3680460"/>
            <a:ext cx="192024" cy="0"/>
          </a:xfrm>
          <a:prstGeom prst="line">
            <a:avLst/>
          </a:prstGeom>
          <a:noFill/>
          <a:ln w="1778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57200" y="4114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343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identified component into a concrete maintenance task with ordered steps, then continuously track which step the student is actually performing.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THE APP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5047488"/>
            <a:ext cx="6995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lookup: TaskRecognizer.kt matches the identified componentId against curated Task objects (id, componentId, name, ordered steps) from TaskData.kt / EngineData.kt — shown on TaskRecognitionScreen.kt.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recognition: a second, dedicated TFLite CNN (TFLiteClassifier.kt, action_labels.txt) classifies what the student's hands/tools are doing in each camera frame (e.g. unclipping, lifting) while they practice.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mapActionToStepIndex() and isExpectedActionForStep() (in VerificationScreen.kt) turn that prediction into a yes/no: “does this action match the step the student should be on right now?” — the rule-based + ML pattern-matching layer from the design doc.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635240" y="4114800"/>
            <a:ext cx="4096512" cy="2377440"/>
          </a:xfrm>
          <a:prstGeom prst="roundRect">
            <a:avLst>
              <a:gd name="adj" fmla="val 2692"/>
            </a:avLst>
          </a:prstGeom>
          <a:solidFill>
            <a:srgbClr val="0F1520"/>
          </a:solidFill>
          <a:ln/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891272" y="4315968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FILES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891272" y="4617720"/>
            <a:ext cx="3584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ai/TaskRecognizer.kt, model/Task.kt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data/TaskData.kt, data/EngineData.kt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data/PracticalJobData.kt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ui/TaskRecognitionScreen.kt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ui/TFLiteClassifier.kt (action model)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ui/VerificationScreen.kt (step logic)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891272" y="5806440"/>
            <a:ext cx="358444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91272" y="58978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891272" y="6099048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task matching  ·  TensorFlow Lite action-recognition CNN  ·  Sequence / step-pattern logic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5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5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8521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AR-Supported Task Verification &amp; Instruction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9875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+ AR overlay + optional audio guidance, live on the camera feed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E5A900"/>
          </a:solidFill>
          <a:ln w="9525">
            <a:solidFill>
              <a:srgbClr val="E5A900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" y="20574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PartGuidanceEngine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mask +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IdentifiedPart + directive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0" y="2491740"/>
            <a:ext cx="219456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23744" y="2011680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E5A900"/>
          </a:solidFill>
          <a:ln w="9525">
            <a:solidFill>
              <a:srgbClr val="E5A900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578608" y="20574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Spatial3DEngine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3D→2D projection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(rotation + perspective)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52544" y="2491740"/>
            <a:ext cx="219456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90288" y="2011680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E5A900"/>
          </a:solidFill>
          <a:ln w="9525">
            <a:solidFill>
              <a:srgbClr val="E5A900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45152" y="20574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Canvas</a:t>
            </a:r>
            <a:endParaRPr lang="en-US" sz="9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mask, arrow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path, on-screen label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19088" y="2491740"/>
            <a:ext cx="219456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56832" y="2011680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E5A900"/>
          </a:solidFill>
          <a:ln w="9525">
            <a:solidFill>
              <a:srgbClr val="E5A900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11696" y="20574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TextToSpeech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step directive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verified confirmation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85632" y="2491740"/>
            <a:ext cx="219456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23376" y="2011680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E5A900"/>
          </a:solidFill>
          <a:ln w="9525">
            <a:solidFill>
              <a:srgbClr val="E5A900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778240" y="20574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3-second Hold</a:t>
            </a:r>
            <a:endParaRPr lang="en-US" sz="950" dirty="0"/>
          </a:p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must match step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to advance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3375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9A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INPUTS TRACKED THROUGHOUT → handed to Component 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602736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E5A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60273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40%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54680" y="3602736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E5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54680" y="360273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25%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52160" y="3602736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E5A9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0" y="360273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(avg. confidence) 20%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49640" y="3602736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12700">
            <a:solidFill>
              <a:srgbClr val="E5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49640" y="3602736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(reset count) 15%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39512" y="2990088"/>
            <a:ext cx="0" cy="594360"/>
          </a:xfrm>
          <a:prstGeom prst="line">
            <a:avLst/>
          </a:prstGeom>
          <a:noFill/>
          <a:ln w="19050">
            <a:solidFill>
              <a:srgbClr val="D9B24C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57200" y="4114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343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live AR guidance on the camera feed, tell the student exactly what to do next, and confirm — visually and continuously — that they actually did it.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5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THE APP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047488"/>
            <a:ext cx="6995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PartGuidanceEngine.kt supplies, per component and per step, a colored 3D bounding-box mask plus an IdentifiedPart with a 3D anchor point, a motion type (unclip-arc, lift-up, inspect-rotate, press-down) and a plain-language action directive.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Spatial3DEngine.kt projects those 3D points onto the 2D camera view with a real perspective/rotation transform — drawing the highlight mask and an animated motion-path arrow (this stands in for ARCore/ARKit pose tracking).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TextToSpeech speaks each step's directive and its “verified” confirmation — the optional audio-guidance module from the design.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action must match the current step continuously for 3 seconds before auto-advancing; while this runs, 4 live metrics feed straight into Component 4's score.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35240" y="4114800"/>
            <a:ext cx="4096512" cy="2377440"/>
          </a:xfrm>
          <a:prstGeom prst="roundRect">
            <a:avLst>
              <a:gd name="adj" fmla="val 2692"/>
            </a:avLst>
          </a:prstGeom>
          <a:solidFill>
            <a:srgbClr val="0F1520"/>
          </a:solidFill>
          <a:ln/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891272" y="4315968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FILES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891272" y="4617720"/>
            <a:ext cx="3584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ui/VerificationScreen.kt (main orchestrator)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ai/Spatial3DEngine.kt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ai/PartGuidanceEngine.kt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ui/TFLiteClassifier.kt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ui/ARScreen.kt (earlier AR canvas prototype)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91272" y="5806440"/>
            <a:ext cx="358444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91272" y="58978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891272" y="6099048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Canvas  ·  Custom 3D→2D projection math  ·  TensorFlow Lite  ·  Android TextToSpeech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170432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58521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Evaluation &amp; Safety Feedback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9875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verification run into a graded report, with real safety warnings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53312"/>
            <a:ext cx="11274552" cy="0"/>
          </a:xfrm>
          <a:prstGeom prst="line">
            <a:avLst/>
          </a:prstGeom>
          <a:noFill/>
          <a:ln w="12700">
            <a:solidFill>
              <a:srgbClr val="E2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64748B"/>
          </a:solidFill>
          <a:ln w="9525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12064" y="2011680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verified, time,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resets, avg. confidence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81528" y="196596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136392" y="2011680"/>
            <a:ext cx="2221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SafetyData.kt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3F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safetyRules[componentId] –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3F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per-part safety warnings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07208" y="2368296"/>
            <a:ext cx="256032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05856" y="1965960"/>
            <a:ext cx="2103120" cy="804672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60720" y="2011680"/>
            <a:ext cx="1993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3F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formula (live) +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3F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EvaluationEngine.kt (rule-based)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31536" y="2368296"/>
            <a:ext cx="256032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01584" y="1965960"/>
            <a:ext cx="2148840" cy="804672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56448" y="2011680"/>
            <a:ext cx="20391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EvaluationScreen.kt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3F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grade, mistakes,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3F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warnings, suggestions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27264" y="2368296"/>
            <a:ext cx="256032" cy="0"/>
          </a:xfrm>
          <a:prstGeom prst="line">
            <a:avLst/>
          </a:prstGeom>
          <a:noFill/>
          <a:ln w="2032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101584" y="306324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1B2433"/>
          </a:solidFill>
          <a:ln w="9525">
            <a:solidFill>
              <a:srgbClr val="1B2433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156448" y="3108960"/>
            <a:ext cx="2039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ScoreHistoryManager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ScoreRecord –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grade A+–D, date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76004" y="2788920"/>
            <a:ext cx="0" cy="274320"/>
          </a:xfrm>
          <a:prstGeom prst="line">
            <a:avLst/>
          </a:prstGeom>
          <a:noFill/>
          <a:ln w="19050">
            <a:solidFill>
              <a:srgbClr val="AEB6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30632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12064" y="310896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“Try Again”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AR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(Component 3)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81528" y="3063240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9525">
            <a:solidFill>
              <a:srgbClr val="D7DCE5"/>
            </a:solidFill>
            <a:prstDash val="solid"/>
          </a:ln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136392" y="3108960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“Review Theory”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to Library /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84464" y="2788920"/>
            <a:ext cx="0" cy="146304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623060" y="2935224"/>
            <a:ext cx="666140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623060" y="2935224"/>
            <a:ext cx="0" cy="128016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58784" y="2788920"/>
            <a:ext cx="0" cy="54864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247388" y="2843784"/>
            <a:ext cx="4311396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247388" y="2843784"/>
            <a:ext cx="0" cy="219456"/>
          </a:xfrm>
          <a:prstGeom prst="line">
            <a:avLst/>
          </a:prstGeom>
          <a:noFill/>
          <a:ln w="15875">
            <a:solidFill>
              <a:srgbClr val="6B7280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57200" y="4114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3434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2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student's attempt, surface component-specific safety warnings, and keep a persistent history so progress can be tracked over time.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2803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IN THE APP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047488"/>
            <a:ext cx="6995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weighted score (Completion 40 + Time 25 + Stability 20 + Precision 15, capped 20–100) computed during verification is the score shown to the student; EvaluationEngine.kt (completed ÷ total steps) exists as a simpler rule-based fallback.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data/SafetyData.kt holds real, component-specific safety rules (e.g. battery: never bridge terminals — hydrogen gas risk; coolant: never open a hot pressurized cap) pulled by componentId.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EvaluationScreen.kt renders the final score, letter grade, missed/skipped steps, safety warnings and suggestions — with Try Again, Review Theory (loops back into theory/chatbot) and Finish actions.</a:t>
            </a:r>
            <a:endParaRPr lang="en-US" sz="1000" dirty="0"/>
          </a:p>
          <a:p>
            <a:pPr marL="177800" indent="-1778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B3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ScoreHistoryManager.kt persists every attempt (task, score, duration, date, grade A+–D) locally so HistoryScreen.kt can show progress over time.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35240" y="4114800"/>
            <a:ext cx="4096512" cy="2377440"/>
          </a:xfrm>
          <a:prstGeom prst="roundRect">
            <a:avLst>
              <a:gd name="adj" fmla="val 2692"/>
            </a:avLst>
          </a:prstGeom>
          <a:solidFill>
            <a:srgbClr val="0F1520"/>
          </a:solidFill>
          <a:ln/>
          <a:effectLst>
            <a:outerShdw sx="100000" sy="100000" kx="0" ky="0" algn="bl" rotWithShape="0" blurRad="76200" dist="25400" dir="5400000">
              <a:srgbClr val="0F1520">
                <a:alpha val="2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891272" y="4315968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IMPLEMENTATION FILES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7891272" y="4617720"/>
            <a:ext cx="3584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ai/EvaluationEngine.kt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model/Evaluation.kt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utils/ScoreCalculator.kt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data/SafetyData.kt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ui/EvaluationScreen.kt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data/ScoreHistoryManager.kt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91272" y="5806440"/>
            <a:ext cx="3584448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91272" y="58978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TECHNOLOGY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891272" y="6099048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algorithm  ·  Safety-rule lookup engine  ·  SharedPreferences / JSON local persistence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component, traced to its code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07899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331720"/>
                <a:gridCol w="2606040"/>
                <a:gridCol w="269748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Technology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the engine part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a camera 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MLClassifier.kt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ComponentDetector.kt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Lite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component → task,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the live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TaskRecognizer.kt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TFLiteClassifier.kt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matching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 action 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Verification &amp;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A9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overlay, audio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guidance, live step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Spatial3DEngine.kt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PartGuidanceEngine.kt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Canvas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3D→2D projection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the attempt,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safety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EvaluationEngine.kt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SafetyData.kt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scoring 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safety-rule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modules are wired together through AppNavigation.kt, which owns the shared session state (selected component, selected task, verification results) as the student moves through the flow.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 is actually built with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38BD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581912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Navigation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· Navigation Compose · Material 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54496" y="160020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38BD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47104" y="1581912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47104" y="187452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(camera-core, camera2, lifecycle, view)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E5A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542032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83464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2.16 – two CNN models: component ID (MobileNetV2) + live action recognition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54496" y="256032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E5A9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47104" y="2542032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Rendering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47104" y="283464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Compose Canvas drawing + hand-built 3D→2D perspective projection (Spatial3DEngine.kt)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E5A9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502152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Guidance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379476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TextToSpeech (step directives + verification confirmations)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4496" y="352044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47104" y="3502152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47104" y="379476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via OkHttp – chatbot grounded in the task's theory content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4462272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75488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 + JSON – score history (ScoreHistoryManager.kt)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4496" y="448056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47104" y="4462272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4754880"/>
            <a:ext cx="5184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Coroutines – async inference, live verification loop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4754880" cy="4754880"/>
          </a:xfrm>
          <a:prstGeom prst="ellipse">
            <a:avLst/>
          </a:prstGeom>
          <a:solidFill>
            <a:srgbClr val="E5A900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components. 1 architecture.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880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862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design document to working Android app — every AI/AR module in the spec has a matching, working implementation in AutoLearnAR.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AutoLearnAR  –  Component-Wise System Overview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2026-08-30T13:56:27Z</dcterms:created>
  <dcterms:modified xsi:type="dcterms:W3CDTF">2026-08-30T13:56:27Z</dcterms:modified>
</cp:coreProperties>
</file>